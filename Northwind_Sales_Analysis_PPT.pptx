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82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73152" cy="4114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ANALYTICS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 Project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Business Intelligence  ·  1994 – 1997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Suite  ·  SQL EDA Analysis  ·  5 Business Domains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389120"/>
            <a:ext cx="1627632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4434840"/>
            <a:ext cx="1627632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4816602"/>
            <a:ext cx="1627632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50592" y="4389120"/>
            <a:ext cx="1627632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50592" y="4434840"/>
            <a:ext cx="1627632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50592" y="4816602"/>
            <a:ext cx="1627632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61104" y="4389120"/>
            <a:ext cx="1627632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61104" y="4434840"/>
            <a:ext cx="1627632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261104" y="4816602"/>
            <a:ext cx="1627632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71616" y="4389120"/>
            <a:ext cx="1627632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71616" y="4434840"/>
            <a:ext cx="1627632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071616" y="4816602"/>
            <a:ext cx="1627632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882128" y="4389120"/>
            <a:ext cx="1627632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882128" y="4434840"/>
            <a:ext cx="1627632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882128" y="4816602"/>
            <a:ext cx="1627632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92640" y="4389120"/>
            <a:ext cx="1627632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92640" y="4434840"/>
            <a:ext cx="1627632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692640" y="4816602"/>
            <a:ext cx="1627632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set out to answer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Northwind trading company (1994–1997) across 5 business domains using SQL + Power BI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15 structured EDA questions — Insight → Impact → Action format throughout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5 interactive dashboards with cross-page navigation and year filtering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10 prioritised, data-driven business recommendations for leadership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201168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456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3383280"/>
            <a:ext cx="201168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3456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743200" y="4114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3383280"/>
            <a:ext cx="201168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3456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029200" y="4114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0" y="3383280"/>
            <a:ext cx="201168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0" y="3456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315200" y="4114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01200" y="3383280"/>
            <a:ext cx="201168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0" y="3456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601200" y="4114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 approach: Insight  →  Impact  →  Action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Analytics  ·  Sales Analysis Project  ·  1994–1997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Relational Database — 8 tables | Star / Snowflake Hybrid Schema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11430000" cy="521208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645920"/>
                <a:gridCol w="7040880"/>
              </a:tblGrid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Fields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A84C"/>
                          </a:solidFill>
                        </a:rPr>
                        <a:t>order_details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A84C"/>
                          </a:solidFill>
                        </a:rPr>
                        <a:t>2,155+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</a:rPr>
                        <a:t>FACT TABLE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A84C"/>
                          </a:solidFill>
                        </a:rPr>
                        <a:t>OrderID, ProductID, Quantity, UnitPrice, Discount, Revenue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orders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830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Dimension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OrderID, CustomerID, EmployeeID, OrderDate, ShipDate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9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customers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Dimension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CustomerID, CompanyName, ContactTitle, Country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products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77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Dimension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ProductID, ProductName, CategoryID, SupplierID, UnitPrice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9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employees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Dimension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EmployeeID, Title, HireDate, Country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categories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Dimension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CategoryID, CategoryName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9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suppliers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Dimension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SupplierID, CompanyName, Country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shippers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Dimension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ShipperID, CompanyName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Analytics  ·  Sales Analysis Project  ·  1994–1997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— Star Schema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Relationship Diagram | 1 Fact Table · 7 Dimensions · 14 DAX Measures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6583680" cy="5303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49440" y="1005840"/>
            <a:ext cx="5120640" cy="1417320"/>
          </a:xfrm>
          <a:prstGeom prst="rect">
            <a:avLst/>
          </a:prstGeom>
          <a:solidFill>
            <a:srgbClr val="1A2C4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0" y="1051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Type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32320" y="1371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/ Snowflake Hybrid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order_details  →  Central Fact Table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surrounding Dimension Tables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949440" y="2560320"/>
            <a:ext cx="5120640" cy="2194560"/>
          </a:xfrm>
          <a:prstGeom prst="rect">
            <a:avLst/>
          </a:prstGeom>
          <a:solidFill>
            <a:srgbClr val="1A2C4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0" y="2606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(_Measures Table)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132320" y="2926080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Avg Order Value, Avg Product Price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Employee, Avg Tenure Years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Orders, Customers, Products, Suppliers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 %, Max / Min Product Price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Dashboards, Total Quantity Sold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949440" y="4892040"/>
            <a:ext cx="5120640" cy="1463040"/>
          </a:xfrm>
          <a:prstGeom prst="rect">
            <a:avLst/>
          </a:prstGeom>
          <a:solidFill>
            <a:srgbClr val="1A2C4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0" y="4937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Computed Columns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132320" y="528523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= UnitPrice × Qty × (1 − Discount)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 Bin &amp; Price Bin (segmentation)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DateTable: Date, Month, Quarter, Year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DeliveryStatus, FullName, ContactTitle Groups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Analytics  ·  Sales Analysis Project  ·  1994–1997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EDA + Power BI model readiness — key steps only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703320" cy="502920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3703320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Clutter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4290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BLOBs dropped (Photo, Picture columns)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Region column excluded from grouping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image fields removed from Customers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097280"/>
            <a:ext cx="3703320" cy="502920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097280"/>
            <a:ext cx="3703320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115568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1645920"/>
            <a:ext cx="34290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ShippedDate NULLs excluded from delivery duration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ReportsTo NULL = root node (Andrew Fuller, VP)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= 0 treated as full-price, not missing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1097280"/>
            <a:ext cx="3703320" cy="502920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097280"/>
            <a:ext cx="3703320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115568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Enhancements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66760" y="1645920"/>
            <a:ext cx="34290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DateTable: Date, Month, Quarter, Year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= UnitPrice × Qty × (1−Discount)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 Bin &amp; Price Bin for segmentation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ContactTitle Groups, FullName, DeliveryStatus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DAX measures in _Measures table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Analytics  ·  Sales Analysis Project  ·  1994–1997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 — Key Insights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Customers  |  22 Countries  |  830 Orders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46888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2468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479042"/>
            <a:ext cx="246888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46888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97280"/>
            <a:ext cx="2468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0" y="1479042"/>
            <a:ext cx="246888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46888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097280"/>
            <a:ext cx="2468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35040" y="1479042"/>
            <a:ext cx="246888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 Contacts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869680" y="1051560"/>
            <a:ext cx="246888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69680" y="1097280"/>
            <a:ext cx="2468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69680" y="1479042"/>
            <a:ext cx="246888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Orders/Customer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965960"/>
            <a:ext cx="5577840" cy="420624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1965960"/>
            <a:ext cx="5577840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98424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Distribution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2487168"/>
            <a:ext cx="5212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&amp; USA lead at 122 orders each — joint top markets by volume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&amp; Germany each have 11 customers — dense European presence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dominates South America with 83 orders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1965960"/>
            <a:ext cx="5577840" cy="420624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1965960"/>
            <a:ext cx="5577840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98424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46520" y="2487168"/>
            <a:ext cx="5212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High-Value: ≥10 orders AND ≥$5K — drive disproportionate revenue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Spenders: &lt;10 orders, ≥$5K — high margin, low frequency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Low-Value: Majority of customers — conversion opportunity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Analytics  ·  Sales Analysis Project  ·  1994–1997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Performance — Key Insights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830 Orders  |  $1M Revenue  |  51K Units Sold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46888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2468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479042"/>
            <a:ext cx="246888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46888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97280"/>
            <a:ext cx="2468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0" y="1479042"/>
            <a:ext cx="246888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46888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097280"/>
            <a:ext cx="2468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$1,530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35040" y="1479042"/>
            <a:ext cx="246888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869680" y="1051560"/>
            <a:ext cx="246888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69680" y="1097280"/>
            <a:ext cx="2468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51K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69680" y="1479042"/>
            <a:ext cx="246888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965960"/>
            <a:ext cx="5577840" cy="420624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1965960"/>
            <a:ext cx="5577840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98424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Breakdown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2487168"/>
            <a:ext cx="5212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Beverages: $270K (27%) + Dairy: $230K (23%) = ~50% of total revenue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categories alone drive half the business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&amp; USA tied at 122 orders each — equal market dominance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1965960"/>
            <a:ext cx="5577840" cy="420624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1965960"/>
            <a:ext cx="5577840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98424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Trends &amp; Distribution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46520" y="2487168"/>
            <a:ext cx="5212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grew from ~20/month (Aug 1994) to ~75/month (May 1996) — 3.7× growth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orders cluster in $1K–$2.5K bin (273 orders) — the volume sweet spot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 orders exceeded $10K — premium segment is small but significant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Analytics  ·  Sales Analysis Project  ·  1994–1997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Analysis — Key Insights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Employees  |  2 Countries  |  Avg Tenure 3.0 yrs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46888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2468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479042"/>
            <a:ext cx="246888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46888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97280"/>
            <a:ext cx="2468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0" y="1479042"/>
            <a:ext cx="246888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46888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097280"/>
            <a:ext cx="2468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yrs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35040" y="1479042"/>
            <a:ext cx="246888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Tenure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869680" y="1051560"/>
            <a:ext cx="246888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69680" y="1097280"/>
            <a:ext cx="2468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$111K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69680" y="1479042"/>
            <a:ext cx="246888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/ Employee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965960"/>
            <a:ext cx="5577840" cy="420624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1965960"/>
            <a:ext cx="5577840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98424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Performance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2487168"/>
            <a:ext cx="5212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Peacock: $233K — Top performer, 3.4× more than Buchanan ($69K) at bottom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(Peacock, Leverling, Davolio) = $628K — 63% of total employee revenue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gap signals territory/incentive imbalance, not capability alone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1965960"/>
            <a:ext cx="5577840" cy="420624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1965960"/>
            <a:ext cx="5577840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98424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Structure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46520" y="2487168"/>
            <a:ext cx="5212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hiring occurred 1992–1994 only — no workforce growth since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VP manages 8 staff directly — high span of control, unsustainable at scale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 Seattle, 3 in London — two-location workforce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Analytics  ·  Sales Analysis Project  ·  1994–1997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Analysis — Key Insights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Products  |  8 Categories  |  Avg Price $28.87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46888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2468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479042"/>
            <a:ext cx="246888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46888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97280"/>
            <a:ext cx="2468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$28.87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0" y="1479042"/>
            <a:ext cx="246888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46888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097280"/>
            <a:ext cx="2468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35040" y="1479042"/>
            <a:ext cx="246888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869680" y="1051560"/>
            <a:ext cx="246888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69680" y="1097280"/>
            <a:ext cx="2468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69680" y="1479042"/>
            <a:ext cx="246888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$26–$50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965960"/>
            <a:ext cx="5577840" cy="420624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1965960"/>
            <a:ext cx="5577840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98424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&amp; Pricing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2487168"/>
            <a:ext cx="5212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Côte de Blaye: ~$150K revenue — #1 product, high-price/low-volume outlier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 leads both revenue ($270K) and quantity (~9.5K units)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products priced $26–$50 — most common pricing tier across catalogue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1965960"/>
            <a:ext cx="5577840" cy="420624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1965960"/>
            <a:ext cx="5577840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98424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&amp; Demand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46520" y="2487168"/>
            <a:ext cx="5212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products cluster in low-revenue zone — long-tail concentration risk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peaked mid-1996; Q4 consistently outperforms Q1 each year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sales products identified — candidates for discontinuation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Analytics  ·  Sales Analysis Project  ·  1994–1997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Analysis — Key Insights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Suppliers  |  13 Countries  |  $1M Combined Revenue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46888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2468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479042"/>
            <a:ext cx="246888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46888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97280"/>
            <a:ext cx="2468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0" y="1479042"/>
            <a:ext cx="246888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46888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097280"/>
            <a:ext cx="2468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35040" y="1479042"/>
            <a:ext cx="246888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Supplier Rev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869680" y="1051560"/>
            <a:ext cx="246888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69680" y="1097280"/>
            <a:ext cx="2468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~$140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69680" y="1479042"/>
            <a:ext cx="246888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Price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965960"/>
            <a:ext cx="5577840" cy="420624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1965960"/>
            <a:ext cx="5577840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98424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Product Distribution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2487168"/>
            <a:ext cx="5212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joyeux ecclésiastiques: Highest revenue — dominant single supplier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Pavlova Ltd. &amp; Plutzer Lebensmittel: Most products (5+) — critical partners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suppliers (UK, Germany, France) dominate the portfolio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1965960"/>
            <a:ext cx="5577840" cy="420624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1965960"/>
            <a:ext cx="5577840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98424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Risk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46520" y="2487168"/>
            <a:ext cx="5212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Grains/Cereals: Concentrated supplier base — single-source supply chain risk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Norway holds highest avg product price by country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 &amp; Condiments have the most diverse supplier competition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Analytics  ·  Sales Analysis Project  ·  1994–1997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Index / Navigation Hub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for the entire BI suite with year slicer and KPI overview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3152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960120"/>
            <a:ext cx="4023360" cy="4572000"/>
          </a:xfrm>
          <a:prstGeom prst="rect">
            <a:avLst/>
          </a:prstGeom>
          <a:solidFill>
            <a:srgbClr val="1A2C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0100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01000" y="1417320"/>
            <a:ext cx="36576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01000" y="1527048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38160" y="15087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830 orders, $1M revenue, 91 customers visible at-a-glance in the header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01000" y="2532888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25146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slicer (1994–1997) drives all 5 dashboards simultaneously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01000" y="3538728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38160" y="35204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domain cards provide one-click navigation — no searching required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01000" y="4544568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38160" y="45262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gold/white design theme maintained across all dashboards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Analytics  ·  Sales Analysis Project  ·  1994–1997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Customer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spread, role distribution, and order trends across 91 customers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3152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960120"/>
            <a:ext cx="4023360" cy="4572000"/>
          </a:xfrm>
          <a:prstGeom prst="rect">
            <a:avLst/>
          </a:prstGeom>
          <a:solidFill>
            <a:srgbClr val="1A2C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0100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01000" y="1417320"/>
            <a:ext cx="36576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01000" y="1527048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38160" y="15087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leads with 13 customers; France &amp; Germany follow with 11 each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01000" y="2532888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25146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of contacts are Sales Representatives — single role dominates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01000" y="3538728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38160" y="35204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trend rising YoY — clear upward trajectory 1994 → 1996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01000" y="4544568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38160" y="45262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and France emerge as high-potential secondary expansion markets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Analytics  ·  Sales Analysis Project  ·  1994–1997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Order Performance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trends, category breakdown, and value distribution across 830 orders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3152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960120"/>
            <a:ext cx="4023360" cy="4572000"/>
          </a:xfrm>
          <a:prstGeom prst="rect">
            <a:avLst/>
          </a:prstGeom>
          <a:solidFill>
            <a:srgbClr val="1A2C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0100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01000" y="1417320"/>
            <a:ext cx="36576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01000" y="1527048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38160" y="15087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 ($270K) + Dairy ($230K) = 50% of revenue — two categories carry the business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01000" y="2532888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25146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scaled from ~20/month (1994) to ~75/month (May 1996) — 3.7× growth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01000" y="3538728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38160" y="35204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273 orders in $1K–$2.5K bin — the volume sweet spot for order sizing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01000" y="4544568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38160" y="45262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&amp; USA tied at 122 orders — equally balanced top markets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Analytics  ·  Sales Analysis Project  ·  1994–1997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Employee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employee, tenure distribution, and geographic coverage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3152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960120"/>
            <a:ext cx="4023360" cy="4572000"/>
          </a:xfrm>
          <a:prstGeom prst="rect">
            <a:avLst/>
          </a:prstGeom>
          <a:solidFill>
            <a:srgbClr val="1A2C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0100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01000" y="1417320"/>
            <a:ext cx="36576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01000" y="1527048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38160" y="15087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Peacock ($233K) outperforms Buchanan ($69K) by 3.4× — large internal gap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01000" y="2532888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25146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employees account for over 60% of employee-attributed revenue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01000" y="3538728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38160" y="35204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tenure split (3 employees per band) — experienced but aging workforce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01000" y="4544568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38160" y="45262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countries covered (USA, UK) — geographic concentration risk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Analytics  ·  Sales Analysis Project  ·  1994–1997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Product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products, category revenue, pricing tiers, and demand patterns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3152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960120"/>
            <a:ext cx="4023360" cy="4572000"/>
          </a:xfrm>
          <a:prstGeom prst="rect">
            <a:avLst/>
          </a:prstGeom>
          <a:solidFill>
            <a:srgbClr val="1A2C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0100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01000" y="1417320"/>
            <a:ext cx="36576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01000" y="1527048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38160" y="15087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Côte de Blaye is a revenue outlier — high-price, low-volume, single-product risk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01000" y="2532888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25146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 leads all categories in both revenue and quantity sold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01000" y="3538728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38160" y="35204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products cluster in a low-revenue zone — long-tail concentration risk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01000" y="4544568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38160" y="45262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$26–$50 price tier has 35 products — mid-market is most crowded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Analytics  ·  Sales Analysis Project  ·  1994–1997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Supplier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revenue trends, product counts, and global geographic reach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3152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960120"/>
            <a:ext cx="4023360" cy="4572000"/>
          </a:xfrm>
          <a:prstGeom prst="rect">
            <a:avLst/>
          </a:prstGeom>
          <a:solidFill>
            <a:srgbClr val="1A2C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0100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01000" y="1417320"/>
            <a:ext cx="36576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01000" y="1527048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38160" y="15087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joyeux ecclésiastiques leads revenue — single supplier over-dependence risk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01000" y="2532888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25146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Pavlova &amp; Plutzer carry the highest product counts — critical partners to retain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01000" y="3538728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38160" y="35204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Grains/Cereals has concentrated supply — supply chain vulnerability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01000" y="4544568"/>
            <a:ext cx="54864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38160" y="45262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countries represented — but European suppliers dominate revenue share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Analytics  ·  Sales Analysis Project  ·  1994–1997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data-driven actions — TOP 3 flagged as immediate priorities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669280" cy="914400"/>
          </a:xfrm>
          <a:prstGeom prst="rect">
            <a:avLst/>
          </a:prstGeom>
          <a:solidFill>
            <a:srgbClr val="1A3050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97280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0" y="11064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PRIORITY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86968" y="1088136"/>
            <a:ext cx="4956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High-Value Customers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1435608"/>
            <a:ext cx="4983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≥10 orders &amp; ≥$5K spend — assign dedicated account managers + loyalty incentives immediately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057400"/>
            <a:ext cx="5669280" cy="914400"/>
          </a:xfrm>
          <a:prstGeom prst="rect">
            <a:avLst/>
          </a:prstGeom>
          <a:solidFill>
            <a:srgbClr val="1A3050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103120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1122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PRIORITY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86968" y="2093976"/>
            <a:ext cx="4956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Beverages &amp; Dairy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6968" y="2441448"/>
            <a:ext cx="4983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 $1M revenue — deepen stock, negotiate better supplier terms before next Q4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063240"/>
            <a:ext cx="5669280" cy="914400"/>
          </a:xfrm>
          <a:prstGeom prst="rect">
            <a:avLst/>
          </a:prstGeom>
          <a:solidFill>
            <a:srgbClr val="1A3050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3108960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0" y="311810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PRIORITY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86968" y="3099816"/>
            <a:ext cx="4956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Côte de Blaye Supply Chain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6968" y="3447288"/>
            <a:ext cx="4983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~$150K single-product risk — build safety stock or qualify backup sourcing now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069080"/>
            <a:ext cx="566928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F5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4114800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86968" y="4105656"/>
            <a:ext cx="4956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 Germany &amp; USA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6968" y="4453128"/>
            <a:ext cx="4983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orders each — deploy regional managers or local partners to capture latent demand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5074920"/>
            <a:ext cx="566928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F5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5120640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86968" y="5111496"/>
            <a:ext cx="4956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Lagging Employee Performance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6968" y="5458968"/>
            <a:ext cx="4983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Buchanan ($69K) vs Peacock ($233K) — review territory allocation and incentive structure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1051560"/>
            <a:ext cx="566928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F5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09360" y="1097280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784848" y="1088136"/>
            <a:ext cx="4956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Low-Value Customers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84848" y="1435608"/>
            <a:ext cx="4983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customers, least revenue — run minimum-order promotions or targeted campaigns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2057400"/>
            <a:ext cx="566928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F5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09360" y="2103120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84848" y="2093976"/>
            <a:ext cx="4956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Q4 Demand Spikes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84848" y="2441448"/>
            <a:ext cx="4983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consistently outperforms Q1 — increase pre-Q4 procurement and inventory levels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17920" y="3063240"/>
            <a:ext cx="566928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F5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09360" y="3108960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784848" y="3099816"/>
            <a:ext cx="4956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Grains/Cereals Supplier Base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84848" y="3447288"/>
            <a:ext cx="4983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supply chain — qualify at least one alternate supplier per high-risk category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17920" y="4069080"/>
            <a:ext cx="566928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F5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309360" y="4114800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784848" y="4105656"/>
            <a:ext cx="4956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$10K+ Orders for Premium Accounts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784848" y="4453128"/>
            <a:ext cx="4983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 such orders — verify accuracy and identify for VIP account escalation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17920" y="5074920"/>
            <a:ext cx="566928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F5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309360" y="5120640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784848" y="5111496"/>
            <a:ext cx="4956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Mid-Level Management Layer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784848" y="5458968"/>
            <a:ext cx="4983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VP managing 8 staff — high span of control, unsustainable as business scales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Analytics  ·  Sales Analysis Project  ·  1994–1997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57200"/>
            <a:ext cx="73152" cy="5486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Sales Analysis  ·  1994–1997  ·  SQL + Power BI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64592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 revenue across 830 orders from 91 customers — analysed across 5 business domains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99339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 &amp; Dairy drive 50% alone; Germany &amp; USA lead at 122 orders each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41148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60604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Margaret Peacock leads employees ($233K); Côte de Blaye leads products (~$150K)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9535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represent concentration risks requiring supply chain and retention action now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41148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56616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interactive Power BI dashboards with year-filtering and cross-page navigation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91363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14 DAX measures + star/snowflake data model — reusable for future periods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41148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526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452628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SQL EDA questions answered with MECE structure across all 5 domains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87375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CTEs, window functions, segmentation logic, and anomaly detection applied throughout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5486400"/>
            <a:ext cx="41148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486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54864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actionable recommendations — 3 immediate priorities identified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583387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High-value customer retention · Beverages/Dairy supply · Côte de Blaye single-product risk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2026-03-28T12:34:39Z</dcterms:created>
  <dcterms:modified xsi:type="dcterms:W3CDTF">2026-03-28T12:34:39Z</dcterms:modified>
</cp:coreProperties>
</file>